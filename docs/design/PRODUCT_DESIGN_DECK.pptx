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54864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914400"/>
            <a:ext cx="457200" cy="45720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C7293"/>
                </a:solidFill>
                <a:latin typeface="Microsoft YaHei"/>
              </a:rPr>
              <a:t>videogenevalkit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Microsoft YaHei"/>
              </a:rPr>
              <a:t>统一 T2V 评测工具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1C7293"/>
                </a:solidFill>
                <a:latin typeface="Microsoft YaHei"/>
              </a:rPr>
              <a:t>Unified Video-Generation Evaluation Toolkit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80"/>
            <a:ext cx="1371600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CBD5E1"/>
                </a:solidFill>
                <a:latin typeface="Microsoft YaHei"/>
              </a:rPr>
              <a:t>一行 CLI · 一份 workspace · 一套 schema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CBD5E1"/>
                </a:solidFill>
                <a:latin typeface="Microsoft YaHei"/>
              </a:rPr>
              <a:t>9 benchmark · 8 judge · 19 standalone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v0.2 设计总览  ·  2026-05-20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Microsoft YaHei"/>
              </a:rPr>
              <a:t>我们在解决什么问题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T2V 评测的现状 · 与我们的回答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Microsoft YaHei"/>
              </a:rPr>
              <a:t>现状：T2V 评测一团乱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4572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Microsoft YaHei"/>
              </a:rPr>
              <a:t>6 个 paper × 6 个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96896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VBench / VBench-2.0 / Video-Bench / WorldJen / WorldScore / T2V-CompBench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4572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Microsoft YaHei"/>
              </a:rPr>
              <a:t>6 套 env / 6 套 prompt 格式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82696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CUDA 版本冲突 · prompt JSON shape 各异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4572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Microsoft YaHei"/>
              </a:rPr>
              <a:t>Judge 写死在 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68496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paper 用 GPT-4o，你想换 Claude / 本地 Gemma？得改源码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4572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Microsoft YaHei"/>
              </a:rPr>
              <a:t>Metric 埋在 bench 内部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54296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想单独跑 motion-smoothness？只能调整个 VBench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4572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Microsoft YaHei"/>
              </a:rPr>
              <a:t>跑全集要数小时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40096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训练监控插不进去 · 没法在训练 loop 里看趋势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828800"/>
            <a:ext cx="5349240" cy="4434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828800"/>
            <a:ext cx="5349240" cy="4114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874519"/>
            <a:ext cx="5349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1295C"/>
                </a:solidFill>
                <a:latin typeface="Microsoft YaHei"/>
              </a:rPr>
              <a:t>我们的回答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4231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9A825"/>
                </a:solidFill>
                <a:latin typeface="Microsoft YaHei"/>
              </a:rPr>
              <a:t>Unified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8346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videvalkit eval 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5204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9A825"/>
                </a:solidFill>
                <a:latin typeface="Microsoft YaHei"/>
              </a:rPr>
              <a:t>Pluggable Backends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3192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judge / metric / aggregator / scorer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都是注册表里的可替换组件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9377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9A825"/>
                </a:solidFill>
                <a:latin typeface="Microsoft YaHei"/>
              </a:rPr>
              <a:t>Plugin-first 扩展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4924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加 metric / bench / judge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不用 fork repo · 不用改源码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Microsoft YaHei"/>
              </a:rPr>
              <a:t>整体架构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分层设计 · 用户 → CLI → Registry → Adapter → Infra → External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947672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874519"/>
            <a:ext cx="237744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84248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用户接口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874519"/>
            <a:ext cx="8321040" cy="50292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8424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CLI (eval / metric / watch / refs / doctor ...)  ·  Python API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441448"/>
            <a:ext cx="23774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551176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编排层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441448"/>
            <a:ext cx="8321040" cy="50292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551176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Runner · Scheduler · Profile resolver · Plugin discovery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081528"/>
            <a:ext cx="365760" cy="36576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99816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008376"/>
            <a:ext cx="237744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118104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注册表 (4 张)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3008376"/>
            <a:ext cx="8321040" cy="50292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3118104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SUPPORTED_BENCHMARKS · SUPPORTED_JUDGES · SUPPORTED_METRICS · SUPPORTED_AGGREGATORS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648456"/>
            <a:ext cx="365760" cy="365760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66744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3575304"/>
            <a:ext cx="2377440" cy="50292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685032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核心抽象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3575304"/>
            <a:ext cx="8321040" cy="50292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3685032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BaseBenchmark · BaseScorer · BaseDistributionMetric · BaseAggregator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4215384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33672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4142232"/>
            <a:ext cx="2377440" cy="5029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25196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Adapter 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4142232"/>
            <a:ext cx="8321040" cy="50292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4251960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9 anchored benchmark · 19 standalone metric · 3 judge backends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4782312"/>
            <a:ext cx="365760" cy="365760"/>
          </a:xfrm>
          <a:prstGeom prst="ellipse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006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4709160"/>
            <a:ext cx="2377440" cy="50292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818888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基础设施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4709160"/>
            <a:ext cx="8321040" cy="50292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481888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Workspace · ApiCallLogger · FrameCache · HTTP/GPU/Env dispatcher</a:t>
            </a:r>
          </a:p>
        </p:txBody>
      </p:sp>
      <p:sp>
        <p:nvSpPr>
          <p:cNvPr id="42" name="Oval 41"/>
          <p:cNvSpPr/>
          <p:nvPr/>
        </p:nvSpPr>
        <p:spPr>
          <a:xfrm>
            <a:off x="457200" y="5349240"/>
            <a:ext cx="365760" cy="3657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6752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5276088"/>
            <a:ext cx="237744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385816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外部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0" y="5276088"/>
            <a:ext cx="8321040" cy="50292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66160" y="5385816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Upstream paper repos  ·  HF (checkpoints / refs / smoke-data)  ·  VLM endpoints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每一层只依赖下一层 · 新增 metric/bench/judge 只动 L2 + L3 注册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Microsoft YaHei"/>
              </a:rPr>
              <a:t>工具箱里有什么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现成能用的全部能力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5176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651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065A82"/>
                </a:solidFill>
                <a:latin typeface="Microsoft YaHe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1295C"/>
                </a:solidFill>
                <a:latin typeface="Microsoft YaHei"/>
              </a:rPr>
              <a:t>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27248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6 anchored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+ 3 stub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828800"/>
            <a:ext cx="26517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286000"/>
            <a:ext cx="2651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1C7293"/>
                </a:solidFill>
                <a:latin typeface="Microsoft YaHei"/>
              </a:rPr>
              <a:t>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7432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1295C"/>
                </a:solidFill>
                <a:latin typeface="Microsoft YaHei"/>
              </a:rPr>
              <a:t>VLM Judge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127248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4 local + 4 API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用户可无限扩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651760" cy="4114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2651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21295C"/>
                </a:solidFill>
                <a:latin typeface="Microsoft YaHei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1295C"/>
                </a:solidFill>
                <a:latin typeface="Microsoft YaHei"/>
              </a:rPr>
              <a:t>Standalone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1295C"/>
                </a:solidFill>
                <a:latin typeface="Microsoft YaHei"/>
              </a:rPr>
              <a:t>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27248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14 通用 + 5 专用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双入口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82880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828800"/>
            <a:ext cx="2651760" cy="41148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286000"/>
            <a:ext cx="2651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6B46C1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7432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1295C"/>
                </a:solidFill>
                <a:latin typeface="Microsoft YaHei"/>
              </a:rPr>
              <a:t>Eval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127248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quick / standard /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full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94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Microsoft YaHei"/>
              </a:rPr>
              <a:t>6 个已 production-ready 的 benchmark （byte-for-byte 对齐官方 leaderboard）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3611880" cy="82296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73152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8912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Microsoft YaHei"/>
              </a:rPr>
              <a:t>VBench v1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7091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Microsoft YaHei"/>
              </a:rPr>
              <a:t>16 dims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47091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quality + semantic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4297680"/>
            <a:ext cx="3611880" cy="82296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4297680"/>
            <a:ext cx="73152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38912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Microsoft YaHei"/>
              </a:rPr>
              <a:t>VBench-2.0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7091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Microsoft YaHei"/>
              </a:rPr>
              <a:t>18 dims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7091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5 大类 / Physics / Anatomy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297680"/>
            <a:ext cx="3611880" cy="82296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297680"/>
            <a:ext cx="73152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438912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Microsoft YaHei"/>
              </a:rPr>
              <a:t>Video-Bench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7091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Microsoft YaHei"/>
              </a:rPr>
              <a:t>9 dims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47091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alignment + dynamic quality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257800"/>
            <a:ext cx="3611880" cy="82296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257800"/>
            <a:ext cx="73152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34924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Microsoft YaHei"/>
              </a:rPr>
              <a:t>WorldJen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66928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Microsoft YaHei"/>
              </a:rPr>
              <a:t>16 dims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6692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PHAS 4-category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60" y="5257800"/>
            <a:ext cx="3611880" cy="82296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51960" y="5257800"/>
            <a:ext cx="73152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534924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Microsoft YaHei"/>
              </a:rPr>
              <a:t>WorldScore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566928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Microsoft YaHei"/>
              </a:rPr>
              <a:t>10 dims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56692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SLAM + RAFT + SAM 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5257800"/>
            <a:ext cx="3611880" cy="82296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46720" y="5257800"/>
            <a:ext cx="73152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534924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1295C"/>
                </a:solidFill>
                <a:latin typeface="Microsoft YaHei"/>
              </a:rPr>
              <a:t>T2V-CompBench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566928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Microsoft YaHei"/>
              </a:rPr>
              <a:t>7 dims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20" y="56692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compositional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Mean |Δ| vs 官方 leaderboard: 0.005 – 0.012  ·  4 个 dim byte-exact (VBench-2.0)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Microsoft YaHei"/>
              </a:rPr>
              <a:t>三大设计创新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Judge 三档切换 · Dual entry · Eval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749039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749039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7490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Judge 三档切换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Microsoft YaHei"/>
              </a:rPr>
              <a:t>为什么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3832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复现 paper · 省钱 demo ·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用自己 endpoint —— 三种诉求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不该共用一个 judge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Microsoft YaHei"/>
              </a:rPr>
              <a:t>怎么用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356616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--judge paper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    → 复现 paper 用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--judge default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    → 省事档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--judge &lt;name&gt;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    → 用户自配 (yaml)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749039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3749039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874519"/>
            <a:ext cx="37490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1295C"/>
                </a:solidFill>
                <a:latin typeface="Microsoft YaHei"/>
              </a:rPr>
              <a:t>Dual Entry 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14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9A825"/>
                </a:solidFill>
                <a:latin typeface="Microsoft YaHei"/>
              </a:rPr>
              <a:t>为什么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34640"/>
            <a:ext cx="33832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同一个 scorer 算法既要支持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完整 bench 评测，也要单独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拿出来跑用户自己的视频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233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9A825"/>
                </a:solidFill>
                <a:latin typeface="Microsoft YaHei"/>
              </a:rPr>
              <a:t>怎么用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343400"/>
            <a:ext cx="36576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videvalkit eval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  --bench vbench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videvalkit metric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  --name motion-smoothness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→ 位级一致 (≤ 1e-6)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361188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3611880" cy="50292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874519"/>
            <a:ext cx="3611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Eval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1460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46C1"/>
                </a:solidFill>
                <a:latin typeface="Microsoft YaHei"/>
              </a:rPr>
              <a:t>为什么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3464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训练监控要 5 分钟出结果 ·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paper 复现要全集 · 中间档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做日常 ablation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02336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46C1"/>
                </a:solidFill>
                <a:latin typeface="Microsoft YaHei"/>
              </a:rPr>
              <a:t>怎么用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343400"/>
            <a:ext cx="33832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--profile quick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    → 5-10 min/bench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--profile standard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    → 30-60 min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--profile full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    → 数小时 (paper)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Microsoft YaHei"/>
              </a:rPr>
              <a:t>19 个 standalone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v0.2 重点交付 · 14 通用 + 5 专用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68580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92807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通用 T2V quality   ·   14 个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96312"/>
            <a:ext cx="73152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Microsoft YaHei"/>
              </a:rPr>
              <a:t>Distribution-level  (4 个 · 全新写)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onsolas"/>
              </a:rPr>
              <a:t>fvd  ·  vfid  ·  kvd  ·  clip-fvd*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64991"/>
            <a:ext cx="73152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39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Microsoft YaHei"/>
              </a:rPr>
              <a:t>Text-video alignment  (2 个 · 全新写)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599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onsolas"/>
              </a:rPr>
              <a:t>clip-score  ·  viclip-score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33672"/>
            <a:ext cx="73152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Microsoft YaHei"/>
              </a:rPr>
              <a:t>Frame perceptual  (2 个 · lift)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onsolas"/>
              </a:rPr>
              <a:t>aesthetic-quality  ·  imaging-quality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02352"/>
            <a:ext cx="73152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Microsoft YaHei"/>
              </a:rPr>
              <a:t>Temporal  (6 个 · lift)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6400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onsolas"/>
              </a:rPr>
              <a:t>motion-smoothness  ·  temporal-flickering
subject-consistency  ·  background-consistency
dynamic-degree  ·  motion-magnitude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828800"/>
            <a:ext cx="42519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4251960" cy="4572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892807"/>
            <a:ext cx="4251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专用维度   ·   5 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2514600"/>
            <a:ext cx="54864" cy="50292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468880"/>
            <a:ext cx="3886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Consolas"/>
              </a:rPr>
              <a:t>object-binding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2788920"/>
            <a:ext cx="3886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名词 / 物体保真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273552"/>
            <a:ext cx="54864" cy="50292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3227832"/>
            <a:ext cx="3886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Consolas"/>
              </a:rPr>
              <a:t>spatial-relationship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547872"/>
            <a:ext cx="3886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空间语言（上下左右）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4032504"/>
            <a:ext cx="54864" cy="50292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3986784"/>
            <a:ext cx="3886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Consolas"/>
              </a:rPr>
              <a:t>numeracy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306824"/>
            <a:ext cx="3886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数量准确性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4791455"/>
            <a:ext cx="54864" cy="50292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4745736"/>
            <a:ext cx="3886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Consolas"/>
              </a:rPr>
              <a:t>motion-accuracy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5065775"/>
            <a:ext cx="3886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动作准确性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5550407"/>
            <a:ext cx="54864" cy="50292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5504688"/>
            <a:ext cx="3886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Consolas"/>
              </a:rPr>
              <a:t>identity-preservation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5824727"/>
            <a:ext cx="3886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人物 / 角色保持 (ArcFace)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★ 双入口：每个 metric 既能 eval --bench 调，也能 metric --name 单独调 · 位级一致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Microsoft YaHei"/>
              </a:rPr>
              <a:t>典型用法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从 demo · ablation · 训练监控 到 paper 复现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73152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0136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Microsoft YaHei"/>
              </a:rPr>
              <a:t>Demo · 30 秒看效果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21408"/>
            <a:ext cx="11109960" cy="5852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10881360" cy="5852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videvalkit eval --bench worldjen --profile quick \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  --judge gemma-4-31b-local --videos ./my_videos --workspace ./run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61488"/>
            <a:ext cx="73152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34056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Microsoft YaHei"/>
              </a:rPr>
              <a:t>单独跑一个 metric（不绑任何 bench）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54096"/>
            <a:ext cx="11109960" cy="5852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10881360" cy="5852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videvalkit metric --name fvd \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  --gen-videos ./my_videos --refs ucf101-fvd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94176"/>
            <a:ext cx="73152" cy="27432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66744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Microsoft YaHei"/>
              </a:rPr>
              <a:t>训练监控（每 1000 step 看一次）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11109960" cy="107899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10881360" cy="10789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from videvalkit.training import monitor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cfg = MonitorConfig(benches=['vbench'], metrics=['fvd','motion-smoothness'],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                    profile='quick')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result = monitor.eval(videos, model_name=f'step_{step}', cfg=cfg)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26864"/>
            <a:ext cx="73152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994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Microsoft YaHei"/>
              </a:rPr>
              <a:t>多 bench 一次跑 + 跨 bench 聚合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919472"/>
            <a:ext cx="11109960" cy="5852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56048"/>
            <a:ext cx="10881360" cy="5852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videvalkit eval-suite --bench vbench --bench worldjen --bench videobench \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  --profile standard --judge claude-sonnet-4-6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59552"/>
            <a:ext cx="73152" cy="2743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5321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Microsoft YaHei"/>
              </a:rPr>
              <a:t>Paper 复现（严格 paper-faithful）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852160"/>
            <a:ext cx="11109960" cy="5852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888736"/>
            <a:ext cx="10881360" cy="5852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videvalkit eval --bench t2vcompbench \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  --profile full --judge paper      # → LLaVA-1.6-34B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Microsoft YaHei"/>
              </a:rPr>
              <a:t>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v0.0.1 现状 → v1.0 公开发布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108813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3602736"/>
            <a:ext cx="512064" cy="512064"/>
          </a:xfrm>
          <a:prstGeom prst="ellipse">
            <a:avLst/>
          </a:prstGeom>
          <a:solidFill>
            <a:srgbClr val="059669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512064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91439" y="2286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1295C"/>
                </a:solidFill>
                <a:latin typeface="Microsoft YaHei"/>
              </a:rPr>
              <a:t>v0.0.1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39" y="26974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2026-05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91439" y="3017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Anchored</a:t>
            </a:r>
          </a:p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adapters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91439" y="4434840"/>
            <a:ext cx="1828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6 bench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8 judge</a:t>
            </a:r>
          </a:p>
        </p:txBody>
      </p:sp>
      <p:sp>
        <p:nvSpPr>
          <p:cNvPr id="13" name="Oval 12"/>
          <p:cNvSpPr/>
          <p:nvPr/>
        </p:nvSpPr>
        <p:spPr>
          <a:xfrm>
            <a:off x="2670048" y="3602736"/>
            <a:ext cx="512064" cy="512064"/>
          </a:xfrm>
          <a:prstGeom prst="ellipse">
            <a:avLst/>
          </a:prstGeom>
          <a:solidFill>
            <a:srgbClr val="059669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3602736"/>
            <a:ext cx="512064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79" y="2286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1295C"/>
                </a:solidFill>
                <a:latin typeface="Microsoft YaHei"/>
              </a:rPr>
              <a:t>v0.1.0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79" y="26974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2026-05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79" y="3017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79" y="4434840"/>
            <a:ext cx="1828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mean |Δ|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conda-pack</a:t>
            </a:r>
          </a:p>
        </p:txBody>
      </p:sp>
      <p:sp>
        <p:nvSpPr>
          <p:cNvPr id="19" name="Oval 18"/>
          <p:cNvSpPr/>
          <p:nvPr/>
        </p:nvSpPr>
        <p:spPr>
          <a:xfrm>
            <a:off x="4773168" y="3602736"/>
            <a:ext cx="512064" cy="512064"/>
          </a:xfrm>
          <a:prstGeom prst="ellipse">
            <a:avLst/>
          </a:prstGeom>
          <a:solidFill>
            <a:srgbClr val="F9A825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602736"/>
            <a:ext cx="512064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286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1295C"/>
                </a:solidFill>
                <a:latin typeface="Microsoft YaHei"/>
              </a:rPr>
              <a:t>v0.2.0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6974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2026-06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017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9A825"/>
                </a:solidFill>
                <a:latin typeface="Microsoft YaHei"/>
              </a:rPr>
              <a:t>Extensibility</a:t>
            </a:r>
          </a:p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9A825"/>
                </a:solidFill>
                <a:latin typeface="Microsoft YaHei"/>
              </a:rPr>
              <a:t>+ Metrics  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434840"/>
            <a:ext cx="1828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19 metric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双入口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训练监控</a:t>
            </a:r>
          </a:p>
        </p:txBody>
      </p:sp>
      <p:sp>
        <p:nvSpPr>
          <p:cNvPr id="25" name="Oval 24"/>
          <p:cNvSpPr/>
          <p:nvPr/>
        </p:nvSpPr>
        <p:spPr>
          <a:xfrm>
            <a:off x="6876288" y="3602736"/>
            <a:ext cx="512064" cy="51206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6288" y="3602736"/>
            <a:ext cx="512064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286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1295C"/>
                </a:solidFill>
                <a:latin typeface="Microsoft YaHei"/>
              </a:rPr>
              <a:t>v0.3.0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6974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2026-07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017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65A82"/>
                </a:solidFill>
                <a:latin typeface="Microsoft YaHei"/>
              </a:rPr>
              <a:t>Expansion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434840"/>
            <a:ext cx="1828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3 stub 做实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国产 judge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更多 metric</a:t>
            </a:r>
          </a:p>
        </p:txBody>
      </p:sp>
      <p:sp>
        <p:nvSpPr>
          <p:cNvPr id="31" name="Oval 30"/>
          <p:cNvSpPr/>
          <p:nvPr/>
        </p:nvSpPr>
        <p:spPr>
          <a:xfrm>
            <a:off x="8979408" y="3602736"/>
            <a:ext cx="512064" cy="512064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79408" y="3602736"/>
            <a:ext cx="512064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286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1295C"/>
                </a:solidFill>
                <a:latin typeface="Microsoft YaHei"/>
              </a:rPr>
              <a:t>v0.4.0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974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2026-09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017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C7293"/>
                </a:solidFill>
                <a:latin typeface="Microsoft YaHei"/>
              </a:rPr>
              <a:t>Productionization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434840"/>
            <a:ext cx="1828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macOS · CPU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leaderboard 网站</a:t>
            </a:r>
          </a:p>
        </p:txBody>
      </p:sp>
      <p:sp>
        <p:nvSpPr>
          <p:cNvPr id="37" name="Oval 36"/>
          <p:cNvSpPr/>
          <p:nvPr/>
        </p:nvSpPr>
        <p:spPr>
          <a:xfrm>
            <a:off x="11082528" y="3602736"/>
            <a:ext cx="512064" cy="512064"/>
          </a:xfrm>
          <a:prstGeom prst="ellipse">
            <a:avLst/>
          </a:prstGeom>
          <a:solidFill>
            <a:srgbClr val="21295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82528" y="3602736"/>
            <a:ext cx="512064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2286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1295C"/>
                </a:solidFill>
                <a:latin typeface="Microsoft YaHei"/>
              </a:rPr>
              <a:t>v1.0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26974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2026-Q4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3017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1295C"/>
                </a:solidFill>
                <a:latin typeface="Microsoft YaHei"/>
              </a:rPr>
              <a:t>Public release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4434840"/>
            <a:ext cx="1828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论文 · colab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judge-eval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43600"/>
            <a:ext cx="11247120" cy="6858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03504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9A825"/>
                </a:solidFill>
                <a:latin typeface="Microsoft YaHei"/>
              </a:rPr>
              <a:t>v0.2  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08076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下一个版本核心：19 个 standalone metric · 三档 judge 切换 · 训练监控闭环 · 22.3 day · ~12 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